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284A54C-365C-4F2F-A83F-4D7129201DB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B7AF7E4-C744-44A4-932A-813CA28CCF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83B0080-CE2F-4F33-8D93-C00EBF7DD1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E4372C8-1705-4968-AAE6-25F0E70FE2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D7E13B5-9EBF-4C02-8C10-638567CE2D9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B34A522-732B-4BEC-9669-C4E727C4E8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3FBDD37-C523-44FE-96B6-8D5D2EFC90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DDC7220-B0EA-4B5A-8134-E5317A52D41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ADD2E1A-671F-46D5-ABE9-A6C1256AE5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508D637-2300-4157-8F26-3E2F1D1B52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31C5C53-E3D8-4393-AFCC-5420ACD15E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731520" y="1051560"/>
            <a:ext cx="1078920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Stereo Disparity &amp; Relative Depth Estimation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749880" y="1993320"/>
            <a:ext cx="10240560" cy="46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Computer Vision Project • CO5430 • Group G03 • Project P12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4"/>
          <p:cNvSpPr/>
          <p:nvPr/>
        </p:nvSpPr>
        <p:spPr>
          <a:xfrm>
            <a:off x="749880" y="5212080"/>
            <a:ext cx="68572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University of Peradeniya • Department of Computer Engineering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Oval 6"/>
          <p:cNvSpPr/>
          <p:nvPr/>
        </p:nvSpPr>
        <p:spPr>
          <a:xfrm>
            <a:off x="9784080" y="502920"/>
            <a:ext cx="1508040" cy="1508040"/>
          </a:xfrm>
          <a:prstGeom prst="ellipse">
            <a:avLst/>
          </a:prstGeom>
          <a:solidFill>
            <a:srgbClr val="DCFCE7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Oval 7"/>
          <p:cNvSpPr/>
          <p:nvPr/>
        </p:nvSpPr>
        <p:spPr>
          <a:xfrm>
            <a:off x="10561320" y="4800600"/>
            <a:ext cx="913680" cy="91368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Rectangle 8"/>
          <p:cNvSpPr/>
          <p:nvPr/>
        </p:nvSpPr>
        <p:spPr>
          <a:xfrm>
            <a:off x="713160" y="3657600"/>
            <a:ext cx="109080" cy="105084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09080" cy="685728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502920" y="32004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1. Project Overview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530280" y="914400"/>
            <a:ext cx="10789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What the system does and the core computer-vision problem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ounded Rectangle 4"/>
          <p:cNvSpPr/>
          <p:nvPr/>
        </p:nvSpPr>
        <p:spPr>
          <a:xfrm>
            <a:off x="594360" y="1325880"/>
            <a:ext cx="5394240" cy="4479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795600" y="1472040"/>
            <a:ext cx="4991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THE PROBLEM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868680" y="1783080"/>
            <a:ext cx="47998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Estimate 3D scene depth from a pair of rectified, horizontally displaced 2D images.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868680" y="3246120"/>
            <a:ext cx="466272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6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Input: left image IL and right image IR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6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Find corresponding pixels and compute disparity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6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Convert disparity into metric depth when calibration is known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6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Use normalized inverse disparity for relative depth when calibration is unavailable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8"/>
          <p:cNvSpPr/>
          <p:nvPr/>
        </p:nvSpPr>
        <p:spPr>
          <a:xfrm>
            <a:off x="6263640" y="1325880"/>
            <a:ext cx="5302800" cy="4479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6464880" y="1472040"/>
            <a:ext cx="4900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KEY IDEA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6537960" y="1874520"/>
            <a:ext cx="4708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d(x,y) = xL − xR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1"/>
          <p:cNvSpPr/>
          <p:nvPr/>
        </p:nvSpPr>
        <p:spPr>
          <a:xfrm>
            <a:off x="6537960" y="2743200"/>
            <a:ext cx="4708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Z(x,y) = f · B / d(x,y)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2"/>
          <p:cNvSpPr/>
          <p:nvPr/>
        </p:nvSpPr>
        <p:spPr>
          <a:xfrm>
            <a:off x="6537960" y="3794760"/>
            <a:ext cx="4617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Close objects → high disparity</a:t>
            </a:r>
            <a:br>
              <a:rPr sz="1800"/>
            </a:br>
            <a:r>
              <a:rPr lang="en-US" sz="18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Background → disparity approaches 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13"/>
          <p:cNvSpPr/>
          <p:nvPr/>
        </p:nvSpPr>
        <p:spPr>
          <a:xfrm>
            <a:off x="384120" y="255960"/>
            <a:ext cx="109080" cy="63270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ounded Rectangle 14"/>
          <p:cNvSpPr/>
          <p:nvPr/>
        </p:nvSpPr>
        <p:spPr>
          <a:xfrm>
            <a:off x="10469880" y="255960"/>
            <a:ext cx="1050840" cy="38340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01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15"/>
          <p:cNvSpPr/>
          <p:nvPr/>
        </p:nvSpPr>
        <p:spPr>
          <a:xfrm>
            <a:off x="640080" y="6473880"/>
            <a:ext cx="10880640" cy="31320"/>
          </a:xfrm>
          <a:prstGeom prst="rect">
            <a:avLst/>
          </a:prstGeom>
          <a:solidFill>
            <a:srgbClr val="BBE0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0" y="0"/>
            <a:ext cx="109080" cy="685728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502920" y="32004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2. Mathematical Formulation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530280" y="914400"/>
            <a:ext cx="10789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Disparity and depth relationship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4"/>
          <p:cNvSpPr/>
          <p:nvPr/>
        </p:nvSpPr>
        <p:spPr>
          <a:xfrm>
            <a:off x="685800" y="1325880"/>
            <a:ext cx="10789200" cy="438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5"/>
          <p:cNvSpPr/>
          <p:nvPr/>
        </p:nvSpPr>
        <p:spPr>
          <a:xfrm>
            <a:off x="960120" y="1737360"/>
            <a:ext cx="9966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For rectified stereo images, corresponding points share the same vertical coordinate.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6"/>
          <p:cNvSpPr/>
          <p:nvPr/>
        </p:nvSpPr>
        <p:spPr>
          <a:xfrm>
            <a:off x="1051560" y="2514600"/>
            <a:ext cx="95090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d(x, y) = xL − xR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7"/>
          <p:cNvSpPr/>
          <p:nvPr/>
        </p:nvSpPr>
        <p:spPr>
          <a:xfrm>
            <a:off x="1051560" y="3337560"/>
            <a:ext cx="95090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Z(x, y) = (f · B) / d(x, y)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8"/>
          <p:cNvSpPr/>
          <p:nvPr/>
        </p:nvSpPr>
        <p:spPr>
          <a:xfrm>
            <a:off x="1005840" y="4251960"/>
            <a:ext cx="978336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d = disparity; Z = scene depth; f = focal length; B = stereo baseline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Without calibrated f and B, normalized inverse disparity gives relative depth: Zrel ∝ 1/d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9"/>
          <p:cNvSpPr/>
          <p:nvPr/>
        </p:nvSpPr>
        <p:spPr>
          <a:xfrm>
            <a:off x="384120" y="255960"/>
            <a:ext cx="109080" cy="63270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Rounded Rectangle 10"/>
          <p:cNvSpPr/>
          <p:nvPr/>
        </p:nvSpPr>
        <p:spPr>
          <a:xfrm>
            <a:off x="10469880" y="255960"/>
            <a:ext cx="1050840" cy="38340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02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11"/>
          <p:cNvSpPr/>
          <p:nvPr/>
        </p:nvSpPr>
        <p:spPr>
          <a:xfrm>
            <a:off x="640080" y="6473880"/>
            <a:ext cx="10880640" cy="31320"/>
          </a:xfrm>
          <a:prstGeom prst="rect">
            <a:avLst/>
          </a:prstGeom>
          <a:solidFill>
            <a:srgbClr val="BBE0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109080" cy="685728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502920" y="32004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3. Modeling Architecture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530280" y="914400"/>
            <a:ext cx="10789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Classical stereo matching benchmarked against RAFT-Stereo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4"/>
          <p:cNvSpPr/>
          <p:nvPr/>
        </p:nvSpPr>
        <p:spPr>
          <a:xfrm>
            <a:off x="502920" y="1417320"/>
            <a:ext cx="1965240" cy="429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5"/>
          <p:cNvSpPr/>
          <p:nvPr/>
        </p:nvSpPr>
        <p:spPr>
          <a:xfrm>
            <a:off x="704160" y="1563480"/>
            <a:ext cx="1562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INPUT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6"/>
          <p:cNvSpPr/>
          <p:nvPr/>
        </p:nvSpPr>
        <p:spPr>
          <a:xfrm>
            <a:off x="731520" y="2057400"/>
            <a:ext cx="150804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Left Image</a:t>
            </a:r>
            <a:br>
              <a:rPr sz="2000"/>
            </a:br>
            <a:r>
              <a:rPr lang="en-US" sz="20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+</a:t>
            </a:r>
            <a:br>
              <a:rPr sz="2000"/>
            </a:br>
            <a:r>
              <a:rPr lang="en-US" sz="20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Right Image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7"/>
          <p:cNvSpPr/>
          <p:nvPr/>
        </p:nvSpPr>
        <p:spPr>
          <a:xfrm>
            <a:off x="2743200" y="1417320"/>
            <a:ext cx="2513880" cy="429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8"/>
          <p:cNvSpPr/>
          <p:nvPr/>
        </p:nvSpPr>
        <p:spPr>
          <a:xfrm>
            <a:off x="2944440" y="1563480"/>
            <a:ext cx="2111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CLASSICAL CV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9"/>
          <p:cNvSpPr/>
          <p:nvPr/>
        </p:nvSpPr>
        <p:spPr>
          <a:xfrm>
            <a:off x="3017520" y="1965960"/>
            <a:ext cx="1965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StereoBM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3017520" y="2487240"/>
            <a:ext cx="191952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Fixed window</a:t>
            </a:r>
            <a:br>
              <a:rPr sz="1500"/>
            </a:br>
            <a:r>
              <a:rPr lang="en-US" sz="15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SAD + WTA</a:t>
            </a:r>
            <a:br>
              <a:rPr sz="1500"/>
            </a:br>
            <a:r>
              <a:rPr lang="en-US" sz="15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Very fast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1"/>
          <p:cNvSpPr/>
          <p:nvPr/>
        </p:nvSpPr>
        <p:spPr>
          <a:xfrm>
            <a:off x="3017520" y="3703320"/>
            <a:ext cx="1965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StereoSGBM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2"/>
          <p:cNvSpPr/>
          <p:nvPr/>
        </p:nvSpPr>
        <p:spPr>
          <a:xfrm>
            <a:off x="3017520" y="4224600"/>
            <a:ext cx="19195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8-path dynamic</a:t>
            </a:r>
            <a:br>
              <a:rPr sz="1500"/>
            </a:br>
            <a:r>
              <a:rPr lang="en-US" sz="15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programming</a:t>
            </a:r>
            <a:br>
              <a:rPr sz="1500"/>
            </a:br>
            <a:r>
              <a:rPr lang="en-US" sz="15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P1 / P2 penalties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13"/>
          <p:cNvSpPr/>
          <p:nvPr/>
        </p:nvSpPr>
        <p:spPr>
          <a:xfrm>
            <a:off x="5532120" y="1417320"/>
            <a:ext cx="3153960" cy="429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14"/>
          <p:cNvSpPr/>
          <p:nvPr/>
        </p:nvSpPr>
        <p:spPr>
          <a:xfrm>
            <a:off x="5733360" y="1563480"/>
            <a:ext cx="2751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DEEP LEARNING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5"/>
          <p:cNvSpPr/>
          <p:nvPr/>
        </p:nvSpPr>
        <p:spPr>
          <a:xfrm>
            <a:off x="5806440" y="1965960"/>
            <a:ext cx="2605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Feature Extractor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6"/>
          <p:cNvSpPr/>
          <p:nvPr/>
        </p:nvSpPr>
        <p:spPr>
          <a:xfrm>
            <a:off x="5806440" y="2743200"/>
            <a:ext cx="2605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1D Epipolar Correlation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7"/>
          <p:cNvSpPr/>
          <p:nvPr/>
        </p:nvSpPr>
        <p:spPr>
          <a:xfrm>
            <a:off x="5806440" y="3520440"/>
            <a:ext cx="2605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Multi-Scale ConvGRU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18"/>
          <p:cNvSpPr/>
          <p:nvPr/>
        </p:nvSpPr>
        <p:spPr>
          <a:xfrm>
            <a:off x="5806440" y="4297680"/>
            <a:ext cx="2605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Convex Upsampling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9"/>
          <p:cNvSpPr/>
          <p:nvPr/>
        </p:nvSpPr>
        <p:spPr>
          <a:xfrm>
            <a:off x="5806440" y="4892040"/>
            <a:ext cx="2559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32 recurrent iterations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20"/>
          <p:cNvSpPr/>
          <p:nvPr/>
        </p:nvSpPr>
        <p:spPr>
          <a:xfrm>
            <a:off x="8961120" y="1417320"/>
            <a:ext cx="2468160" cy="429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21"/>
          <p:cNvSpPr/>
          <p:nvPr/>
        </p:nvSpPr>
        <p:spPr>
          <a:xfrm>
            <a:off x="9162360" y="1563480"/>
            <a:ext cx="206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OUTPUT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22"/>
          <p:cNvSpPr/>
          <p:nvPr/>
        </p:nvSpPr>
        <p:spPr>
          <a:xfrm>
            <a:off x="9235440" y="2011680"/>
            <a:ext cx="19195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Disparity Map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23"/>
          <p:cNvSpPr/>
          <p:nvPr/>
        </p:nvSpPr>
        <p:spPr>
          <a:xfrm>
            <a:off x="9235440" y="2788920"/>
            <a:ext cx="19195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Colorized Map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4"/>
          <p:cNvSpPr/>
          <p:nvPr/>
        </p:nvSpPr>
        <p:spPr>
          <a:xfrm>
            <a:off x="9235440" y="3566160"/>
            <a:ext cx="19195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RMSE • AbsRel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25"/>
          <p:cNvSpPr/>
          <p:nvPr/>
        </p:nvSpPr>
        <p:spPr>
          <a:xfrm>
            <a:off x="9235440" y="4160520"/>
            <a:ext cx="19195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Bad-3px • EPE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26"/>
          <p:cNvSpPr/>
          <p:nvPr/>
        </p:nvSpPr>
        <p:spPr>
          <a:xfrm>
            <a:off x="384120" y="255960"/>
            <a:ext cx="109080" cy="63270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Rounded Rectangle 27"/>
          <p:cNvSpPr/>
          <p:nvPr/>
        </p:nvSpPr>
        <p:spPr>
          <a:xfrm>
            <a:off x="10469880" y="255960"/>
            <a:ext cx="1050840" cy="38340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03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28"/>
          <p:cNvSpPr/>
          <p:nvPr/>
        </p:nvSpPr>
        <p:spPr>
          <a:xfrm>
            <a:off x="640080" y="6473880"/>
            <a:ext cx="10880640" cy="31320"/>
          </a:xfrm>
          <a:prstGeom prst="rect">
            <a:avLst/>
          </a:prstGeom>
          <a:solidFill>
            <a:srgbClr val="BBE0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0" y="0"/>
            <a:ext cx="109080" cy="685728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502920" y="32004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4. Algorithmic Breakdown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3"/>
          <p:cNvSpPr/>
          <p:nvPr/>
        </p:nvSpPr>
        <p:spPr>
          <a:xfrm>
            <a:off x="530280" y="914400"/>
            <a:ext cx="10789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How each method produces the disparity map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4"/>
          <p:cNvSpPr/>
          <p:nvPr/>
        </p:nvSpPr>
        <p:spPr>
          <a:xfrm>
            <a:off x="594360" y="1325880"/>
            <a:ext cx="3474000" cy="4525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5"/>
          <p:cNvSpPr/>
          <p:nvPr/>
        </p:nvSpPr>
        <p:spPr>
          <a:xfrm>
            <a:off x="795600" y="1472040"/>
            <a:ext cx="3071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StereoBM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6"/>
          <p:cNvSpPr/>
          <p:nvPr/>
        </p:nvSpPr>
        <p:spPr>
          <a:xfrm>
            <a:off x="868680" y="1828800"/>
            <a:ext cx="287964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Slides a fixed K×K window along scanlines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Minimizes Sum of Absolute Differences (SAD)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Winner-Take-All selects the best match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Extremely fast (~6 ms CPU in the benchmark)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Can create block artifacts and fail in textureless regions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ounded Rectangle 7"/>
          <p:cNvSpPr/>
          <p:nvPr/>
        </p:nvSpPr>
        <p:spPr>
          <a:xfrm>
            <a:off x="4343400" y="1325880"/>
            <a:ext cx="3474000" cy="4525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8"/>
          <p:cNvSpPr/>
          <p:nvPr/>
        </p:nvSpPr>
        <p:spPr>
          <a:xfrm>
            <a:off x="4544640" y="1472040"/>
            <a:ext cx="3071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StereoSGBM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9"/>
          <p:cNvSpPr/>
          <p:nvPr/>
        </p:nvSpPr>
        <p:spPr>
          <a:xfrm>
            <a:off x="4617720" y="1828800"/>
            <a:ext cx="287964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Semi-global matching approach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Birchfield-Tomasi matching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8 independent 1D dynamic-programming paths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Smoothness penalties P1 and P2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Improves accuracy but is slower than StereoBM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ounded Rectangle 10"/>
          <p:cNvSpPr/>
          <p:nvPr/>
        </p:nvSpPr>
        <p:spPr>
          <a:xfrm>
            <a:off x="8092440" y="1325880"/>
            <a:ext cx="3474000" cy="4525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11"/>
          <p:cNvSpPr/>
          <p:nvPr/>
        </p:nvSpPr>
        <p:spPr>
          <a:xfrm>
            <a:off x="8293680" y="1472040"/>
            <a:ext cx="3071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RAFT-Stereo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2"/>
          <p:cNvSpPr/>
          <p:nvPr/>
        </p:nvSpPr>
        <p:spPr>
          <a:xfrm>
            <a:off x="8366760" y="1828800"/>
            <a:ext cx="287964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Multi-scale residual CNN feature extraction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1D epipolar correlation pyramid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Multi-level ConvGRU refinement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32 recurrent iterations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5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Learned convex upsampling preserves edges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13"/>
          <p:cNvSpPr/>
          <p:nvPr/>
        </p:nvSpPr>
        <p:spPr>
          <a:xfrm>
            <a:off x="384120" y="255960"/>
            <a:ext cx="109080" cy="63270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Rounded Rectangle 14"/>
          <p:cNvSpPr/>
          <p:nvPr/>
        </p:nvSpPr>
        <p:spPr>
          <a:xfrm>
            <a:off x="10469880" y="255960"/>
            <a:ext cx="1050840" cy="38340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04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15"/>
          <p:cNvSpPr/>
          <p:nvPr/>
        </p:nvSpPr>
        <p:spPr>
          <a:xfrm>
            <a:off x="640080" y="6473880"/>
            <a:ext cx="10880640" cy="31320"/>
          </a:xfrm>
          <a:prstGeom prst="rect">
            <a:avLst/>
          </a:prstGeom>
          <a:solidFill>
            <a:srgbClr val="BBE0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"/>
          <p:cNvSpPr/>
          <p:nvPr/>
        </p:nvSpPr>
        <p:spPr>
          <a:xfrm>
            <a:off x="0" y="0"/>
            <a:ext cx="109080" cy="685728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2"/>
          <p:cNvSpPr/>
          <p:nvPr/>
        </p:nvSpPr>
        <p:spPr>
          <a:xfrm>
            <a:off x="502920" y="32004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5. Quantitative Benchmark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3"/>
          <p:cNvSpPr/>
          <p:nvPr/>
        </p:nvSpPr>
        <p:spPr>
          <a:xfrm>
            <a:off x="530280" y="914400"/>
            <a:ext cx="10789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Middlebury 2021 — artroom1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4"/>
          <p:cNvSpPr/>
          <p:nvPr/>
        </p:nvSpPr>
        <p:spPr>
          <a:xfrm>
            <a:off x="548640" y="1417320"/>
            <a:ext cx="3794040" cy="593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5"/>
          <p:cNvSpPr/>
          <p:nvPr/>
        </p:nvSpPr>
        <p:spPr>
          <a:xfrm>
            <a:off x="658440" y="1554480"/>
            <a:ext cx="3611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Method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6"/>
          <p:cNvSpPr/>
          <p:nvPr/>
        </p:nvSpPr>
        <p:spPr>
          <a:xfrm>
            <a:off x="4343400" y="1417320"/>
            <a:ext cx="1599480" cy="593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7"/>
          <p:cNvSpPr/>
          <p:nvPr/>
        </p:nvSpPr>
        <p:spPr>
          <a:xfrm>
            <a:off x="4453200" y="1554480"/>
            <a:ext cx="1416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RMSE ↓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ounded Rectangle 8"/>
          <p:cNvSpPr/>
          <p:nvPr/>
        </p:nvSpPr>
        <p:spPr>
          <a:xfrm>
            <a:off x="5943600" y="1417320"/>
            <a:ext cx="1599480" cy="593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9"/>
          <p:cNvSpPr/>
          <p:nvPr/>
        </p:nvSpPr>
        <p:spPr>
          <a:xfrm>
            <a:off x="6053400" y="1554480"/>
            <a:ext cx="1416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AbsRel ↓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10"/>
          <p:cNvSpPr/>
          <p:nvPr/>
        </p:nvSpPr>
        <p:spPr>
          <a:xfrm>
            <a:off x="7543800" y="1417320"/>
            <a:ext cx="1690920" cy="593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11"/>
          <p:cNvSpPr/>
          <p:nvPr/>
        </p:nvSpPr>
        <p:spPr>
          <a:xfrm>
            <a:off x="7653600" y="1554480"/>
            <a:ext cx="1508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Bad-3px ↓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12"/>
          <p:cNvSpPr/>
          <p:nvPr/>
        </p:nvSpPr>
        <p:spPr>
          <a:xfrm>
            <a:off x="9235440" y="1417320"/>
            <a:ext cx="1919520" cy="593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13"/>
          <p:cNvSpPr/>
          <p:nvPr/>
        </p:nvSpPr>
        <p:spPr>
          <a:xfrm>
            <a:off x="9345240" y="155448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Speed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ounded Rectangle 14"/>
          <p:cNvSpPr/>
          <p:nvPr/>
        </p:nvSpPr>
        <p:spPr>
          <a:xfrm>
            <a:off x="548640" y="2130480"/>
            <a:ext cx="3794040" cy="65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15"/>
          <p:cNvSpPr/>
          <p:nvPr/>
        </p:nvSpPr>
        <p:spPr>
          <a:xfrm>
            <a:off x="658440" y="2277000"/>
            <a:ext cx="361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StereoBM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ounded Rectangle 16"/>
          <p:cNvSpPr/>
          <p:nvPr/>
        </p:nvSpPr>
        <p:spPr>
          <a:xfrm>
            <a:off x="4343400" y="2130480"/>
            <a:ext cx="1599480" cy="65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17"/>
          <p:cNvSpPr/>
          <p:nvPr/>
        </p:nvSpPr>
        <p:spPr>
          <a:xfrm>
            <a:off x="4453200" y="227700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42.18 px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18"/>
          <p:cNvSpPr/>
          <p:nvPr/>
        </p:nvSpPr>
        <p:spPr>
          <a:xfrm>
            <a:off x="5943600" y="2130480"/>
            <a:ext cx="1599480" cy="65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19"/>
          <p:cNvSpPr/>
          <p:nvPr/>
        </p:nvSpPr>
        <p:spPr>
          <a:xfrm>
            <a:off x="6053400" y="227700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0.2841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ounded Rectangle 20"/>
          <p:cNvSpPr/>
          <p:nvPr/>
        </p:nvSpPr>
        <p:spPr>
          <a:xfrm>
            <a:off x="7543800" y="2130480"/>
            <a:ext cx="1690920" cy="65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21"/>
          <p:cNvSpPr/>
          <p:nvPr/>
        </p:nvSpPr>
        <p:spPr>
          <a:xfrm>
            <a:off x="7653600" y="2277000"/>
            <a:ext cx="1508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38.74%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ounded Rectangle 22"/>
          <p:cNvSpPr/>
          <p:nvPr/>
        </p:nvSpPr>
        <p:spPr>
          <a:xfrm>
            <a:off x="9235440" y="2130480"/>
            <a:ext cx="1919520" cy="65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23"/>
          <p:cNvSpPr/>
          <p:nvPr/>
        </p:nvSpPr>
        <p:spPr>
          <a:xfrm>
            <a:off x="9345240" y="2277000"/>
            <a:ext cx="1736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~6 ms CPU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24"/>
          <p:cNvSpPr/>
          <p:nvPr/>
        </p:nvSpPr>
        <p:spPr>
          <a:xfrm>
            <a:off x="548640" y="2953440"/>
            <a:ext cx="3794040" cy="65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25"/>
          <p:cNvSpPr/>
          <p:nvPr/>
        </p:nvSpPr>
        <p:spPr>
          <a:xfrm>
            <a:off x="658440" y="3099960"/>
            <a:ext cx="361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StereoSGBM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26"/>
          <p:cNvSpPr/>
          <p:nvPr/>
        </p:nvSpPr>
        <p:spPr>
          <a:xfrm>
            <a:off x="4343400" y="2953440"/>
            <a:ext cx="1599480" cy="65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27"/>
          <p:cNvSpPr/>
          <p:nvPr/>
        </p:nvSpPr>
        <p:spPr>
          <a:xfrm>
            <a:off x="4453200" y="309996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38.64 px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ounded Rectangle 28"/>
          <p:cNvSpPr/>
          <p:nvPr/>
        </p:nvSpPr>
        <p:spPr>
          <a:xfrm>
            <a:off x="5943600" y="2953440"/>
            <a:ext cx="1599480" cy="65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29"/>
          <p:cNvSpPr/>
          <p:nvPr/>
        </p:nvSpPr>
        <p:spPr>
          <a:xfrm>
            <a:off x="6053400" y="309996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0.2378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ounded Rectangle 30"/>
          <p:cNvSpPr/>
          <p:nvPr/>
        </p:nvSpPr>
        <p:spPr>
          <a:xfrm>
            <a:off x="7543800" y="2953440"/>
            <a:ext cx="1690920" cy="65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31"/>
          <p:cNvSpPr/>
          <p:nvPr/>
        </p:nvSpPr>
        <p:spPr>
          <a:xfrm>
            <a:off x="7653600" y="3099960"/>
            <a:ext cx="1508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30.23%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ounded Rectangle 32"/>
          <p:cNvSpPr/>
          <p:nvPr/>
        </p:nvSpPr>
        <p:spPr>
          <a:xfrm>
            <a:off x="9235440" y="2953440"/>
            <a:ext cx="1919520" cy="65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33"/>
          <p:cNvSpPr/>
          <p:nvPr/>
        </p:nvSpPr>
        <p:spPr>
          <a:xfrm>
            <a:off x="9345240" y="3099960"/>
            <a:ext cx="1736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~28 ms CPU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ounded Rectangle 34"/>
          <p:cNvSpPr/>
          <p:nvPr/>
        </p:nvSpPr>
        <p:spPr>
          <a:xfrm>
            <a:off x="548640" y="3776400"/>
            <a:ext cx="3794040" cy="65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35"/>
          <p:cNvSpPr/>
          <p:nvPr/>
        </p:nvSpPr>
        <p:spPr>
          <a:xfrm>
            <a:off x="658440" y="3922920"/>
            <a:ext cx="361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RAFT Pre-trained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ounded Rectangle 36"/>
          <p:cNvSpPr/>
          <p:nvPr/>
        </p:nvSpPr>
        <p:spPr>
          <a:xfrm>
            <a:off x="4343400" y="3776400"/>
            <a:ext cx="1599480" cy="65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37"/>
          <p:cNvSpPr/>
          <p:nvPr/>
        </p:nvSpPr>
        <p:spPr>
          <a:xfrm>
            <a:off x="4453200" y="39229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4.82 px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ounded Rectangle 38"/>
          <p:cNvSpPr/>
          <p:nvPr/>
        </p:nvSpPr>
        <p:spPr>
          <a:xfrm>
            <a:off x="5943600" y="3776400"/>
            <a:ext cx="1599480" cy="65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39"/>
          <p:cNvSpPr/>
          <p:nvPr/>
        </p:nvSpPr>
        <p:spPr>
          <a:xfrm>
            <a:off x="6053400" y="39229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0.0142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ounded Rectangle 40"/>
          <p:cNvSpPr/>
          <p:nvPr/>
        </p:nvSpPr>
        <p:spPr>
          <a:xfrm>
            <a:off x="7543800" y="3776400"/>
            <a:ext cx="1690920" cy="65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41"/>
          <p:cNvSpPr/>
          <p:nvPr/>
        </p:nvSpPr>
        <p:spPr>
          <a:xfrm>
            <a:off x="7653600" y="3922920"/>
            <a:ext cx="1508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5.89%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42"/>
          <p:cNvSpPr/>
          <p:nvPr/>
        </p:nvSpPr>
        <p:spPr>
          <a:xfrm>
            <a:off x="9235440" y="3776400"/>
            <a:ext cx="1919520" cy="65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43"/>
          <p:cNvSpPr/>
          <p:nvPr/>
        </p:nvSpPr>
        <p:spPr>
          <a:xfrm>
            <a:off x="9345240" y="3922920"/>
            <a:ext cx="1736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~85 ms GPU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ounded Rectangle 44"/>
          <p:cNvSpPr/>
          <p:nvPr/>
        </p:nvSpPr>
        <p:spPr>
          <a:xfrm>
            <a:off x="548640" y="4599360"/>
            <a:ext cx="3794040" cy="65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45"/>
          <p:cNvSpPr/>
          <p:nvPr/>
        </p:nvSpPr>
        <p:spPr>
          <a:xfrm>
            <a:off x="658440" y="4745880"/>
            <a:ext cx="361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RAFT Fine-Tuned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ounded Rectangle 46"/>
          <p:cNvSpPr/>
          <p:nvPr/>
        </p:nvSpPr>
        <p:spPr>
          <a:xfrm>
            <a:off x="4343400" y="4599360"/>
            <a:ext cx="1599480" cy="65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47"/>
          <p:cNvSpPr/>
          <p:nvPr/>
        </p:nvSpPr>
        <p:spPr>
          <a:xfrm>
            <a:off x="4453200" y="474588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3.98 px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48"/>
          <p:cNvSpPr/>
          <p:nvPr/>
        </p:nvSpPr>
        <p:spPr>
          <a:xfrm>
            <a:off x="5943600" y="4599360"/>
            <a:ext cx="1599480" cy="65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49"/>
          <p:cNvSpPr/>
          <p:nvPr/>
        </p:nvSpPr>
        <p:spPr>
          <a:xfrm>
            <a:off x="6053400" y="474588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0.0091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ounded Rectangle 50"/>
          <p:cNvSpPr/>
          <p:nvPr/>
        </p:nvSpPr>
        <p:spPr>
          <a:xfrm>
            <a:off x="7543800" y="4599360"/>
            <a:ext cx="1690920" cy="65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51"/>
          <p:cNvSpPr/>
          <p:nvPr/>
        </p:nvSpPr>
        <p:spPr>
          <a:xfrm>
            <a:off x="7653600" y="4745880"/>
            <a:ext cx="1508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4.46%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ounded Rectangle 52"/>
          <p:cNvSpPr/>
          <p:nvPr/>
        </p:nvSpPr>
        <p:spPr>
          <a:xfrm>
            <a:off x="9235440" y="4599360"/>
            <a:ext cx="1919520" cy="65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53"/>
          <p:cNvSpPr/>
          <p:nvPr/>
        </p:nvSpPr>
        <p:spPr>
          <a:xfrm>
            <a:off x="9345240" y="4745880"/>
            <a:ext cx="1736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~85 ms GPU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54"/>
          <p:cNvSpPr/>
          <p:nvPr/>
        </p:nvSpPr>
        <p:spPr>
          <a:xfrm>
            <a:off x="685800" y="5532120"/>
            <a:ext cx="10514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Result: fine-tuned RAFT-Stereo gives the lowest error across the reported accuracy metrics.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55"/>
          <p:cNvSpPr/>
          <p:nvPr/>
        </p:nvSpPr>
        <p:spPr>
          <a:xfrm>
            <a:off x="384120" y="255960"/>
            <a:ext cx="109080" cy="63270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ounded Rectangle 56"/>
          <p:cNvSpPr/>
          <p:nvPr/>
        </p:nvSpPr>
        <p:spPr>
          <a:xfrm>
            <a:off x="10469880" y="255960"/>
            <a:ext cx="1050840" cy="38340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05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57"/>
          <p:cNvSpPr/>
          <p:nvPr/>
        </p:nvSpPr>
        <p:spPr>
          <a:xfrm>
            <a:off x="640080" y="6473880"/>
            <a:ext cx="10880640" cy="31320"/>
          </a:xfrm>
          <a:prstGeom prst="rect">
            <a:avLst/>
          </a:prstGeom>
          <a:solidFill>
            <a:srgbClr val="BBE0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Rounded Rectangle 58"/>
          <p:cNvSpPr/>
          <p:nvPr/>
        </p:nvSpPr>
        <p:spPr>
          <a:xfrm>
            <a:off x="640080" y="5897880"/>
            <a:ext cx="2148120" cy="36504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BEST: RAFT Fine-Tuned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1"/>
          <p:cNvSpPr/>
          <p:nvPr/>
        </p:nvSpPr>
        <p:spPr>
          <a:xfrm>
            <a:off x="0" y="0"/>
            <a:ext cx="109080" cy="685728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2"/>
          <p:cNvSpPr/>
          <p:nvPr/>
        </p:nvSpPr>
        <p:spPr>
          <a:xfrm>
            <a:off x="502920" y="320040"/>
            <a:ext cx="11154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6. Built Interface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3"/>
          <p:cNvSpPr/>
          <p:nvPr/>
        </p:nvSpPr>
        <p:spPr>
          <a:xfrm>
            <a:off x="530280" y="914400"/>
            <a:ext cx="10789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Gradio 5 web interface connected to the stereo-depth inference pipeline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ounded Rectangle 4"/>
          <p:cNvSpPr/>
          <p:nvPr/>
        </p:nvSpPr>
        <p:spPr>
          <a:xfrm>
            <a:off x="640080" y="1325880"/>
            <a:ext cx="5165640" cy="4479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5"/>
          <p:cNvSpPr/>
          <p:nvPr/>
        </p:nvSpPr>
        <p:spPr>
          <a:xfrm>
            <a:off x="841320" y="1472040"/>
            <a:ext cx="4763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USER FLOW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6"/>
          <p:cNvSpPr/>
          <p:nvPr/>
        </p:nvSpPr>
        <p:spPr>
          <a:xfrm>
            <a:off x="914400" y="1828800"/>
            <a:ext cx="4479840" cy="32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7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Upload the left and right stereo images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7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Select the disparity method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7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Configure available visualization / inference options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7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Click “Compute Disparity”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7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View the generated colorized disparity and statistics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ounded Rectangle 7"/>
          <p:cNvSpPr/>
          <p:nvPr/>
        </p:nvSpPr>
        <p:spPr>
          <a:xfrm>
            <a:off x="6126480" y="1325880"/>
            <a:ext cx="5348520" cy="4479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8"/>
          <p:cNvSpPr/>
          <p:nvPr/>
        </p:nvSpPr>
        <p:spPr>
          <a:xfrm>
            <a:off x="6327720" y="1472040"/>
            <a:ext cx="4946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PRODUCT EXPERIENCE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9"/>
          <p:cNvSpPr/>
          <p:nvPr/>
        </p:nvSpPr>
        <p:spPr>
          <a:xfrm>
            <a:off x="6400800" y="1828800"/>
            <a:ext cx="4662720" cy="32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7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Responsive browser-based interface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7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Drag-and-drop image uploads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7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Colormap options for disparity visualization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7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Interactive output instead of running notebook cells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700" b="0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• Designed for direct demonstration and evaluation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ectangle 10"/>
          <p:cNvSpPr/>
          <p:nvPr/>
        </p:nvSpPr>
        <p:spPr>
          <a:xfrm>
            <a:off x="384120" y="255960"/>
            <a:ext cx="109080" cy="63270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Rounded Rectangle 11"/>
          <p:cNvSpPr/>
          <p:nvPr/>
        </p:nvSpPr>
        <p:spPr>
          <a:xfrm>
            <a:off x="10469880" y="255960"/>
            <a:ext cx="1050840" cy="38340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06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ectangle 12"/>
          <p:cNvSpPr/>
          <p:nvPr/>
        </p:nvSpPr>
        <p:spPr>
          <a:xfrm>
            <a:off x="640080" y="6473880"/>
            <a:ext cx="10880640" cy="31320"/>
          </a:xfrm>
          <a:prstGeom prst="rect">
            <a:avLst/>
          </a:prstGeom>
          <a:solidFill>
            <a:srgbClr val="BBE0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2"/>
          <p:cNvSpPr/>
          <p:nvPr/>
        </p:nvSpPr>
        <p:spPr>
          <a:xfrm>
            <a:off x="0" y="0"/>
            <a:ext cx="109080" cy="685728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40"/>
          <p:cNvSpPr/>
          <p:nvPr/>
        </p:nvSpPr>
        <p:spPr>
          <a:xfrm>
            <a:off x="502920" y="320040"/>
            <a:ext cx="66420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7. Hugging Face + Gradio Architecture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42"/>
          <p:cNvSpPr/>
          <p:nvPr/>
        </p:nvSpPr>
        <p:spPr>
          <a:xfrm>
            <a:off x="530280" y="914400"/>
            <a:ext cx="2706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What happens behind the interface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ectangle 3"/>
          <p:cNvSpPr/>
          <p:nvPr/>
        </p:nvSpPr>
        <p:spPr>
          <a:xfrm>
            <a:off x="384120" y="255960"/>
            <a:ext cx="109080" cy="63270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Rounded Rectangle 1"/>
          <p:cNvSpPr/>
          <p:nvPr/>
        </p:nvSpPr>
        <p:spPr>
          <a:xfrm>
            <a:off x="10469880" y="255960"/>
            <a:ext cx="1050840" cy="38340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07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ectangle 4"/>
          <p:cNvSpPr/>
          <p:nvPr/>
        </p:nvSpPr>
        <p:spPr>
          <a:xfrm>
            <a:off x="640080" y="6473880"/>
            <a:ext cx="10880640" cy="31320"/>
          </a:xfrm>
          <a:prstGeom prst="rect">
            <a:avLst/>
          </a:prstGeom>
          <a:solidFill>
            <a:srgbClr val="BBE0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12" name=""/>
          <p:cNvPicPr/>
          <p:nvPr/>
        </p:nvPicPr>
        <p:blipFill>
          <a:blip r:embed="rId1"/>
          <a:stretch/>
        </p:blipFill>
        <p:spPr>
          <a:xfrm>
            <a:off x="1371600" y="1278360"/>
            <a:ext cx="9308520" cy="5195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ectangle 5"/>
          <p:cNvSpPr/>
          <p:nvPr/>
        </p:nvSpPr>
        <p:spPr>
          <a:xfrm>
            <a:off x="384120" y="255960"/>
            <a:ext cx="109080" cy="63270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45000" rIns="5472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Rounded Rectangle 6"/>
          <p:cNvSpPr/>
          <p:nvPr/>
        </p:nvSpPr>
        <p:spPr>
          <a:xfrm>
            <a:off x="10469880" y="255960"/>
            <a:ext cx="1050840" cy="38340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>
            <a:solidFill>
              <a:srgbClr val="BBE0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47857"/>
                </a:solidFill>
                <a:effectLst/>
                <a:uFillTx/>
                <a:latin typeface="Calibri"/>
              </a:rPr>
              <a:t>11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ectangle 7"/>
          <p:cNvSpPr/>
          <p:nvPr/>
        </p:nvSpPr>
        <p:spPr>
          <a:xfrm>
            <a:off x="640080" y="6473880"/>
            <a:ext cx="10880640" cy="31320"/>
          </a:xfrm>
          <a:prstGeom prst="rect">
            <a:avLst/>
          </a:prstGeom>
          <a:solidFill>
            <a:srgbClr val="BBE0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1"/>
          <p:cNvSpPr/>
          <p:nvPr/>
        </p:nvSpPr>
        <p:spPr>
          <a:xfrm>
            <a:off x="685800" y="457200"/>
            <a:ext cx="102866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F2337"/>
                </a:solidFill>
                <a:effectLst/>
                <a:uFillTx/>
                <a:latin typeface="Calibri"/>
              </a:rPr>
              <a:t>Thank you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</TotalTime>
  <Application>LibreOffice/26.2.5.2$Linux_X86_64 LibreOffice_project/620$Build-2</Application>
  <AppVersion>15.0000</AppVersion>
  <Words>829</Words>
  <Paragraphs>175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Kalpani Herath</dc:creator>
  <dc:description>generated using python-pptx</dc:description>
  <dc:language>en-US</dc:language>
  <cp:lastModifiedBy/>
  <dcterms:modified xsi:type="dcterms:W3CDTF">2026-09-10T23:27:00Z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12</vt:i4>
  </property>
</Properties>
</file>