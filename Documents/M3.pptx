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ae506731c401d" /><Relationship Type="http://schemas.openxmlformats.org/officeDocument/2006/relationships/extended-properties" Target="/docProps/app.xml" Id="Rfb66f33136794c71" /><Relationship Type="http://schemas.openxmlformats.org/officeDocument/2006/relationships/officeDocument" Target="/ppt/presentation.xml" Id="R09004f40be6045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74acdea5c459b"/>
  </p:sldMasterIdLst>
  <p:notesMasterIdLst>
    <p:notesMasterId xmlns:r="http://schemas.openxmlformats.org/officeDocument/2006/relationships" r:id="R251eecb9d5214568"/>
  </p:notesMasterIdLst>
  <p:sldIdLst>
    <p:sldId xmlns:r="http://schemas.openxmlformats.org/officeDocument/2006/relationships" id="256" r:id="R6442882d394f4e8f"/>
    <p:sldId xmlns:r="http://schemas.openxmlformats.org/officeDocument/2006/relationships" id="257" r:id="R579bdb2be5cd4fc4"/>
    <p:sldId xmlns:r="http://schemas.openxmlformats.org/officeDocument/2006/relationships" id="258" r:id="Rc65e567df01d4e36"/>
    <p:sldId xmlns:r="http://schemas.openxmlformats.org/officeDocument/2006/relationships" id="259" r:id="R500a98ba29454a9f"/>
    <p:sldId xmlns:r="http://schemas.openxmlformats.org/officeDocument/2006/relationships" id="260" r:id="R805cc6da81ff44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aa725fe6e42db" /><Relationship Type="http://schemas.openxmlformats.org/officeDocument/2006/relationships/slideMaster" Target="/ppt/slideMasters/slideMaster1.xml" Id="R2fc74acdea5c459b" /><Relationship Type="http://schemas.openxmlformats.org/officeDocument/2006/relationships/notesMaster" Target="/ppt/notesMasters/notesMaster1.xml" Id="R251eecb9d5214568" /><Relationship Type="http://schemas.openxmlformats.org/officeDocument/2006/relationships/presProps" Target="/ppt/presProps.xml" Id="Rb0bac0c17ca746cb" /><Relationship Type="http://schemas.openxmlformats.org/officeDocument/2006/relationships/tableStyles" Target="/ppt/tableStyles.xml" Id="Re808f63202d345d0" /><Relationship Type="http://schemas.openxmlformats.org/officeDocument/2006/relationships/slide" Target="/ppt/slides/slide1.xml" Id="R6442882d394f4e8f" /><Relationship Type="http://schemas.openxmlformats.org/officeDocument/2006/relationships/slide" Target="/ppt/slides/slide2.xml" Id="R579bdb2be5cd4fc4" /><Relationship Type="http://schemas.openxmlformats.org/officeDocument/2006/relationships/slide" Target="/ppt/slides/slide3.xml" Id="Rc65e567df01d4e36" /><Relationship Type="http://schemas.openxmlformats.org/officeDocument/2006/relationships/slide" Target="/ppt/slides/slide4.xml" Id="R500a98ba29454a9f" /><Relationship Type="http://schemas.openxmlformats.org/officeDocument/2006/relationships/slide" Target="/ppt/slides/slide5.xml" Id="R805cc6da81ff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1b38199f29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af7af9dc89469f" /><Relationship Type="http://schemas.openxmlformats.org/officeDocument/2006/relationships/notesMaster" Target="/ppt/notesMasters/notesMaster1.xml" Id="Rf7d2aac7a468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aea0d12d9947bb" /><Relationship Type="http://schemas.openxmlformats.org/officeDocument/2006/relationships/notesMaster" Target="/ppt/notesMasters/notesMaster1.xml" Id="R44e1402daefb4c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306e04cfb14998" /><Relationship Type="http://schemas.openxmlformats.org/officeDocument/2006/relationships/notesMaster" Target="/ppt/notesMasters/notesMaster1.xml" Id="R4452bfb51939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e2b2c45af4aec" /><Relationship Type="http://schemas.openxmlformats.org/officeDocument/2006/relationships/notesMaster" Target="/ppt/notesMasters/notesMaster1.xml" Id="Rb5f4ebb9e415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2047692d9453d" /><Relationship Type="http://schemas.openxmlformats.org/officeDocument/2006/relationships/notesMaster" Target="/ppt/notesMasters/notesMaster1.xml" Id="Rd94b910c1fd2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  <a:p xmlns:a="http://schemas.openxmlformats.org/drawingml/2006/main">
            <a:r>
              <a:t>- Group details: previous project proposal and Stereo_Disparity_Depth_Estimation_Presentation.pptx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  <a:p xmlns:a="http://schemas.openxmlformats.org/drawingml/2006/main">
            <a:r>
              <a:t>- Project repository: https://github.com/cepdnaclk/e23-co5430-Stereo-disparity_depth-estimation.git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df90a96d9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7e0db27fdc44c4" /><Relationship Type="http://schemas.openxmlformats.org/officeDocument/2006/relationships/slideLayout" Target="/ppt/slideLayouts/slideLayout1.xml" Id="Rbc4d81e055124e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d81e055124e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584a81b5a4bff" /><Relationship Type="http://schemas.openxmlformats.org/officeDocument/2006/relationships/notesSlide" Target="/ppt/notesSlides/notesSlide1.xml" Id="R19751b66acb240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b1d1d2cc5409e" /><Relationship Type="http://schemas.openxmlformats.org/officeDocument/2006/relationships/notesSlide" Target="/ppt/notesSlides/notesSlide2.xml" Id="R8f8f89d1f88349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e676218b34d5f" /><Relationship Type="http://schemas.openxmlformats.org/officeDocument/2006/relationships/notesSlide" Target="/ppt/notesSlides/notesSlide3.xml" Id="Rb3acc2fba41046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e86dac73d45f2" /><Relationship Type="http://schemas.openxmlformats.org/officeDocument/2006/relationships/notesSlide" Target="/ppt/notesSlides/notesSlide4.xml" Id="Ra7a60475a1b843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cccfc527b45d5" /><Relationship Type="http://schemas.openxmlformats.org/officeDocument/2006/relationships/notesSlide" Target="/ppt/notesSlides/notesSlide5.xml" Id="R4312a6bb2bdf46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46258A2-417A-4D0C-89CC-136AD9E8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Stereo disparity
and depth estimation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7E7C5DC-6C91-45C6-AEE5-2B5A458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Middlebury 2021 is integrated: high-resolution stereo pairs, .pfm ground-truth disparity, and a 24-image fine-tuning subset.</a:t>
            </a:r>
          </a:p>
        </p:txBody>
      </p:sp>
      <p:sp>
        <p:nvSpPr>
          <p:cNvPr id="3" name="cover-supertitle">
            <a:extLst xmlns:a="http://schemas.openxmlformats.org/drawingml/2006/main">
              <a:ext uri="{FF2B5EF4-FFF2-40B4-BE49-F238E27FC236}">
                <a16:creationId xmlns:a16="http://schemas.microsoft.com/office/drawing/2014/main" id="{5B67B7F3-BBC8-4009-980E-FB3EA6EF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M3 PROJECT UPDATE</a:t>
            </a:r>
          </a:p>
        </p:txBody>
      </p:sp>
      <p:sp>
        <p:nvSpPr>
          <p:cNvPr id="4" name="dataset-accent">
            <a:extLst xmlns:a="http://schemas.openxmlformats.org/drawingml/2006/main">
              <a:ext uri="{FF2B5EF4-FFF2-40B4-BE49-F238E27FC236}">
                <a16:creationId xmlns:a16="http://schemas.microsoft.com/office/drawing/2014/main" id="{A3AEC7FF-3FB3-4D07-B034-7377F3FC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oup-header">
            <a:extLst xmlns:a="http://schemas.openxmlformats.org/drawingml/2006/main">
              <a:ext uri="{FF2B5EF4-FFF2-40B4-BE49-F238E27FC236}">
                <a16:creationId xmlns:a16="http://schemas.microsoft.com/office/drawing/2014/main" id="{BEFA8180-89DC-41F1-84C3-DD32EE27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8001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CO5430</a:t>
            </a:r>
          </a:p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COMPUTER VISION</a:t>
            </a:r>
          </a:p>
        </p:txBody>
      </p:sp>
      <p:sp>
        <p:nvSpPr>
          <p:cNvPr id="6" name="group-id">
            <a:extLst xmlns:a="http://schemas.openxmlformats.org/drawingml/2006/main">
              <a:ext uri="{FF2B5EF4-FFF2-40B4-BE49-F238E27FC236}">
                <a16:creationId xmlns:a16="http://schemas.microsoft.com/office/drawing/2014/main" id="{F2E350ED-96BF-4F28-B97B-1B2C94F4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5737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GROUP G03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ID: P12</a:t>
            </a:r>
          </a:p>
        </p:txBody>
      </p:sp>
      <p:sp>
        <p:nvSpPr>
          <p:cNvPr id="7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BEA07D4D-0F94-4D9C-8D98-3F297F79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05125"/>
            <a:ext cx="1714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GROUP MEMBERS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E/23/127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H.M.K.I. Herath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E/23/188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K.M.M.Y. Kumarasinge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E/23/343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S.B.N.S. Samarawickrama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E/23/347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S.D.M.P. Sandanayake</a:t>
            </a:r>
          </a:p>
        </p:txBody>
      </p:sp>
    </p:spTree>
    <p:extLst>
      <p:ext uri="{BB962C8B-B14F-4D97-AF65-F5344CB8AC3E}">
        <p14:creationId xmlns:p14="http://schemas.microsoft.com/office/powerpoint/2010/main" val="7850898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1097AC-B16E-4318-A7CD-AA7B3C79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DFE3D7-FD39-4433-8257-2675958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Preprocessing protects labels, memory, and generalization</a:t>
            </a:r>
          </a:p>
        </p:txBody>
      </p:sp>
      <p:sp>
        <p:nvSpPr>
          <p:cNvPr id="3" name="topic-1">
            <a:extLst xmlns:a="http://schemas.openxmlformats.org/drawingml/2006/main">
              <a:ext uri="{FF2B5EF4-FFF2-40B4-BE49-F238E27FC236}">
                <a16:creationId xmlns:a16="http://schemas.microsoft.com/office/drawing/2014/main" id="{85E343B3-8D9E-456C-897A-3158DB5D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Stereo inputs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rectified left/right pairs with Middlebury .pfm ground-truth disparity.</a:t>
            </a:r>
          </a:p>
        </p:txBody>
      </p:sp>
      <p:sp>
        <p:nvSpPr>
          <p:cNvPr id="4" name="topic-2">
            <a:extLst xmlns:a="http://schemas.openxmlformats.org/drawingml/2006/main">
              <a:ext uri="{FF2B5EF4-FFF2-40B4-BE49-F238E27FC236}">
                <a16:creationId xmlns:a16="http://schemas.microsoft.com/office/drawing/2014/main" id="{B0C7A4C0-0EDD-4BC6-B546-FF32097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Spatial crops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Random 384 × 512 crops preserve local geometry while reducing memory use.</a:t>
            </a:r>
          </a:p>
        </p:txBody>
      </p:sp>
      <p:sp>
        <p:nvSpPr>
          <p:cNvPr id="5" name="topic-3">
            <a:extLst xmlns:a="http://schemas.openxmlformats.org/drawingml/2006/main">
              <a:ext uri="{FF2B5EF4-FFF2-40B4-BE49-F238E27FC236}">
                <a16:creationId xmlns:a16="http://schemas.microsoft.com/office/drawing/2014/main" id="{23F5490E-5433-40A2-909D-5B6FBE14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Valid-pixel mask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Exclude occlusions, infinite values, and ground-truth disparities above 250 px.</a:t>
            </a:r>
          </a:p>
        </p:txBody>
      </p:sp>
      <p:sp>
        <p:nvSpPr>
          <p:cNvPr id="6" name="topic-4">
            <a:extLst xmlns:a="http://schemas.openxmlformats.org/drawingml/2006/main">
              <a:ext uri="{FF2B5EF4-FFF2-40B4-BE49-F238E27FC236}">
                <a16:creationId xmlns:a16="http://schemas.microsoft.com/office/drawing/2014/main" id="{47640E8A-D387-4394-A679-B93DB50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Smooth L1 loss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Train against valid ground truth using a robust pixel-wise regression objective.</a:t>
            </a:r>
          </a:p>
        </p:txBody>
      </p:sp>
      <p:sp>
        <p:nvSpPr>
          <p:cNvPr id="7" name="topic-5">
            <a:extLst xmlns:a="http://schemas.openxmlformats.org/drawingml/2006/main">
              <a:ext uri="{FF2B5EF4-FFF2-40B4-BE49-F238E27FC236}">
                <a16:creationId xmlns:a16="http://schemas.microsoft.com/office/drawing/2014/main" id="{417E998C-9235-4B76-89CD-8358C79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Scale alignment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Clamp final predictions to 0–250 px to stabilize gradients against the target scale.</a:t>
            </a:r>
          </a:p>
        </p:txBody>
      </p:sp>
      <p:sp>
        <p:nvSpPr>
          <p:cNvPr id="8" name="topic-6">
            <a:extLst xmlns:a="http://schemas.openxmlformats.org/drawingml/2006/main">
              <a:ext uri="{FF2B5EF4-FFF2-40B4-BE49-F238E27FC236}">
                <a16:creationId xmlns:a16="http://schemas.microsoft.com/office/drawing/2014/main" id="{932E5975-8381-4AA1-AF34-803ED7E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Frozen features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Freeze RAFT-Stereo fnet and cnet to retain the SceneFlow-pretrained representation.</a:t>
            </a:r>
          </a:p>
        </p:txBody>
      </p:sp>
      <p:sp>
        <p:nvSpPr>
          <p:cNvPr id="9" name="topic-7">
            <a:extLst xmlns:a="http://schemas.openxmlformats.org/drawingml/2006/main">
              <a:ext uri="{FF2B5EF4-FFF2-40B4-BE49-F238E27FC236}">
                <a16:creationId xmlns:a16="http://schemas.microsoft.com/office/drawing/2014/main" id="{31764A8D-6652-4963-941F-527AF3E3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GRU-only update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Optimize only the final GRU update block using a very low 1e−6 learning rate.</a:t>
            </a:r>
          </a:p>
        </p:txBody>
      </p:sp>
      <p:sp>
        <p:nvSpPr>
          <p:cNvPr id="10" name="topic-8">
            <a:extLst xmlns:a="http://schemas.openxmlformats.org/drawingml/2006/main">
              <a:ext uri="{FF2B5EF4-FFF2-40B4-BE49-F238E27FC236}">
                <a16:creationId xmlns:a16="http://schemas.microsoft.com/office/drawing/2014/main" id="{A69DF319-346B-4AD6-85F0-1E521F82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Augmentation next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Add color jitter and spatial transforms to expand variation in the 24-image subset.</a:t>
            </a:r>
          </a:p>
        </p:txBody>
      </p:sp>
      <p:sp>
        <p:nvSpPr>
          <p:cNvPr id="11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64A47554-F019-474E-9FB8-B3E3E649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792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2B4B9F-98A2-4144-A6EE-99659AE3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50A146-8418-473E-8DB8-A82DB5B7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baseline combines classical matching with controlled RAFT adaptation</a:t>
            </a:r>
          </a:p>
        </p:txBody>
      </p:sp>
      <p:cxnSp>
        <p:nvCxnSpPr>
          <p:cNvPr id="16" name="timeline-rule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C23D57D4-05AF-4002-8759-9BF9610E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5D2031-46B5-48ED-94F3-85870F04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6CB2DB6-AB03-4AD3-9E5D-A2E7907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5ADA461F-50E6-49E6-B50E-B6D828B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2476500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01 · CLASSICAL</a:t>
            </a:r>
          </a:p>
        </p:txBody>
      </p:sp>
      <p:sp>
        <p:nvSpPr>
          <p:cNvPr id="8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CF1B2AB7-946C-4CB4-88F6-231B3A6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2476500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02 · ZERO-SHOT</a:t>
            </a:r>
          </a:p>
        </p:txBody>
      </p:sp>
      <p:sp>
        <p:nvSpPr>
          <p:cNvPr id="9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C81ED344-7ECE-4B17-A9F1-797474D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2476500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03 · FINE-TUNE</a:t>
            </a:r>
          </a:p>
        </p:txBody>
      </p:sp>
      <p:sp>
        <p:nvSpPr>
          <p:cNvPr id="10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AA90F60D-674C-4392-9630-73E92BC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StereoBM / SGBM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 OpenCV block matching and semi-global matching; study blockSize and P1/P2 smoothness penalties.</a:t>
            </a:r>
          </a:p>
        </p:txBody>
      </p:sp>
      <p:sp>
        <p:nvSpPr>
          <p:cNvPr id="11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BB5CD840-13FF-489E-B30F-E1BC653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Zero-shot RAFT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Instantiate RAFT-Stereo directly in Python via PyTorch and initialize it with SceneFlow-pretrained weights.</a:t>
            </a:r>
          </a:p>
        </p:txBody>
      </p:sp>
      <p:sp>
        <p:nvSpPr>
          <p:cNvPr id="12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48E650E4-B0C5-456B-B458-EF06A19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Domain adaptation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a custom PyTorch loop on Middlebury; freeze fnet/cnet and update the final GRU with Smooth L1 at 1e−6.</a:t>
            </a:r>
          </a:p>
        </p:txBody>
      </p:sp>
      <p:sp>
        <p:nvSpPr>
          <p:cNvPr id="13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0811C833-B8F7-4945-8620-F55DADD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53014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6239BD-E6DA-41B8-B20C-3CB9B2F4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19D2B0-5336-4F57-B40A-1BEA8B7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Initial results favor zero-shot RAFT and clarify fine-tuning guardrails</a:t>
            </a:r>
          </a:p>
        </p:txBody>
      </p:sp>
      <p:sp>
        <p:nvSpPr>
          <p:cNvPr id="3" name="priority-summary">
            <a:extLst xmlns:a="http://schemas.openxmlformats.org/drawingml/2006/main">
              <a:ext uri="{FF2B5EF4-FFF2-40B4-BE49-F238E27FC236}">
                <a16:creationId xmlns:a16="http://schemas.microsoft.com/office/drawing/2014/main" id="{77C0C5D8-68CF-4642-9459-5388F97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8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Qualitative comparisons are available; validated numerical metrics are not yet reported.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Smooth L1 loss was tracked across epochs, but the exact starting and final values still need to be recorded.</a:t>
            </a:r>
          </a:p>
        </p:txBody>
      </p:sp>
      <p:sp>
        <p:nvSpPr>
          <p:cNvPr id="4" name="priority-panel-1">
            <a:extLst xmlns:a="http://schemas.openxmlformats.org/drawingml/2006/main">
              <a:ext uri="{FF2B5EF4-FFF2-40B4-BE49-F238E27FC236}">
                <a16:creationId xmlns:a16="http://schemas.microsoft.com/office/drawing/2014/main" id="{86D49C25-C623-4142-B853-AE83E7D6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priority-text-1">
            <a:extLst xmlns:a="http://schemas.openxmlformats.org/drawingml/2006/main">
              <a:ext uri="{FF2B5EF4-FFF2-40B4-BE49-F238E27FC236}">
                <a16:creationId xmlns:a16="http://schemas.microsoft.com/office/drawing/2014/main" id="{5167E1E2-7C3F-401A-B1AC-6D21B74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5" y="3955637"/>
            <a:ext cx="2949321" cy="1623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SGBM trade-off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Increasing blockSize reduces speckle noise in flat areas, but it also softens sharp object boundaries.</a:t>
            </a:r>
          </a:p>
        </p:txBody>
      </p:sp>
      <p:sp>
        <p:nvSpPr>
          <p:cNvPr id="6" name="priority-panel-2">
            <a:extLst xmlns:a="http://schemas.openxmlformats.org/drawingml/2006/main">
              <a:ext uri="{FF2B5EF4-FFF2-40B4-BE49-F238E27FC236}">
                <a16:creationId xmlns:a16="http://schemas.microsoft.com/office/drawing/2014/main" id="{10231301-D6C8-41C8-88ED-F9F21780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priority-text-2">
            <a:extLst xmlns:a="http://schemas.openxmlformats.org/drawingml/2006/main">
              <a:ext uri="{FF2B5EF4-FFF2-40B4-BE49-F238E27FC236}">
                <a16:creationId xmlns:a16="http://schemas.microsoft.com/office/drawing/2014/main" id="{59E53BF4-E36E-4B8F-8238-271F1373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3955637"/>
            <a:ext cx="2949321" cy="1623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Zero-shot RAFT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Visually outperforms tuned SGBM in textureless regions and edge preservation, with sharper dense maps around occlusions and thin structures.</a:t>
            </a:r>
          </a:p>
        </p:txBody>
      </p:sp>
      <p:sp>
        <p:nvSpPr>
          <p:cNvPr id="8" name="priority-panel-3">
            <a:extLst xmlns:a="http://schemas.openxmlformats.org/drawingml/2006/main">
              <a:ext uri="{FF2B5EF4-FFF2-40B4-BE49-F238E27FC236}">
                <a16:creationId xmlns:a16="http://schemas.microsoft.com/office/drawing/2014/main" id="{C3A84F41-347D-4400-8B53-D74361F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9" name="priority-text-3">
            <a:extLst xmlns:a="http://schemas.openxmlformats.org/drawingml/2006/main">
              <a:ext uri="{FF2B5EF4-FFF2-40B4-BE49-F238E27FC236}">
                <a16:creationId xmlns:a16="http://schemas.microsoft.com/office/drawing/2014/main" id="{54FE2C51-D6E1-4A05-9E5C-BAABEFAA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496" y="3955637"/>
            <a:ext cx="2949321" cy="1623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Fine-tuning insight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Whole-network tuning on 24 images rapidly memorized the subset and produced blurry or mushy outputs. This motivated frozen-backbone, GRU-only adaptation.</a:t>
            </a:r>
          </a:p>
        </p:txBody>
      </p:sp>
      <p:sp>
        <p:nvSpPr>
          <p:cNvPr id="10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BA35EFFA-8C1D-4703-8CBD-37BCEAE3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43327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2C500A-71EA-4F91-B2F6-7C4DBBEB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10ED7C-A71E-46A6-8C91-80367159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 constraints now define the next validation cycle</a:t>
            </a:r>
          </a:p>
        </p:txBody>
      </p:sp>
      <p:sp>
        <p:nvSpPr>
          <p:cNvPr id="3" name="topic-1">
            <a:extLst xmlns:a="http://schemas.openxmlformats.org/drawingml/2006/main">
              <a:ext uri="{FF2B5EF4-FFF2-40B4-BE49-F238E27FC236}">
                <a16:creationId xmlns:a16="http://schemas.microsoft.com/office/drawing/2014/main" id="{F0ED15FE-2190-4018-AC72-01CAF4F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Small-data boundary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Whole-network tuning on only 24 images caused rapid memorization and output collapse.</a:t>
            </a:r>
          </a:p>
        </p:txBody>
      </p:sp>
      <p:sp>
        <p:nvSpPr>
          <p:cNvPr id="4" name="topic-2">
            <a:extLst xmlns:a="http://schemas.openxmlformats.org/drawingml/2006/main">
              <a:ext uri="{FF2B5EF4-FFF2-40B4-BE49-F238E27FC236}">
                <a16:creationId xmlns:a16="http://schemas.microsoft.com/office/drawing/2014/main" id="{174CE138-C885-4E75-BC8F-6DE3B431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Scale mismatch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Predictions near 500 px conflicted with ground truth near 200 px; clamp to 0–250 px.</a:t>
            </a:r>
          </a:p>
        </p:txBody>
      </p:sp>
      <p:sp>
        <p:nvSpPr>
          <p:cNvPr id="5" name="topic-3">
            <a:extLst xmlns:a="http://schemas.openxmlformats.org/drawingml/2006/main">
              <a:ext uri="{FF2B5EF4-FFF2-40B4-BE49-F238E27FC236}">
                <a16:creationId xmlns:a16="http://schemas.microsoft.com/office/drawing/2014/main" id="{8CB697B7-DC79-4273-8A75-B347D34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 memory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Full 1080p correlation volumes and GRUs exhausted the Colab T4's 15 GB VRAM.</a:t>
            </a:r>
          </a:p>
        </p:txBody>
      </p:sp>
      <p:sp>
        <p:nvSpPr>
          <p:cNvPr id="6" name="topic-4">
            <a:extLst xmlns:a="http://schemas.openxmlformats.org/drawingml/2006/main">
              <a:ext uri="{FF2B5EF4-FFF2-40B4-BE49-F238E27FC236}">
                <a16:creationId xmlns:a16="http://schemas.microsoft.com/office/drawing/2014/main" id="{E1890EBE-0CF0-45E8-94DD-E0BA99D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Working response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384 × 512 crops, frozen feature networks, and GRU-only optimization.</a:t>
            </a:r>
          </a:p>
        </p:txBody>
      </p:sp>
      <p:sp>
        <p:nvSpPr>
          <p:cNvPr id="7" name="topic-5">
            <a:extLst xmlns:a="http://schemas.openxmlformats.org/drawingml/2006/main">
              <a:ext uri="{FF2B5EF4-FFF2-40B4-BE49-F238E27FC236}">
                <a16:creationId xmlns:a16="http://schemas.microsoft.com/office/drawing/2014/main" id="{A4929255-2A44-4AF1-B7FC-04F54974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Sequence loss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Apply RAFT's full loss with exponentially increasing weights across intermediate predictions.</a:t>
            </a:r>
          </a:p>
        </p:txBody>
      </p:sp>
      <p:sp>
        <p:nvSpPr>
          <p:cNvPr id="8" name="topic-6">
            <a:extLst xmlns:a="http://schemas.openxmlformats.org/drawingml/2006/main">
              <a:ext uri="{FF2B5EF4-FFF2-40B4-BE49-F238E27FC236}">
                <a16:creationId xmlns:a16="http://schemas.microsoft.com/office/drawing/2014/main" id="{5832E19A-239F-4FE2-8DC3-49E661D9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Data augmentation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Introduce aggressive color jitter and spatial augmentation to reduce overfitting.</a:t>
            </a:r>
          </a:p>
        </p:txBody>
      </p:sp>
      <p:sp>
        <p:nvSpPr>
          <p:cNvPr id="9" name="topic-7">
            <a:extLst xmlns:a="http://schemas.openxmlformats.org/drawingml/2006/main">
              <a:ext uri="{FF2B5EF4-FFF2-40B4-BE49-F238E27FC236}">
                <a16:creationId xmlns:a16="http://schemas.microsoft.com/office/drawing/2014/main" id="{2444DAF7-BCE9-49D6-B09B-3791957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Formal benchmark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Calculate 3-pixel error rate (D1) and End-Point Error (EPE).</a:t>
            </a:r>
          </a:p>
        </p:txBody>
      </p:sp>
      <p:sp>
        <p:nvSpPr>
          <p:cNvPr id="10" name="topic-8">
            <a:extLst xmlns:a="http://schemas.openxmlformats.org/drawingml/2006/main">
              <a:ext uri="{FF2B5EF4-FFF2-40B4-BE49-F238E27FC236}">
                <a16:creationId xmlns:a16="http://schemas.microsoft.com/office/drawing/2014/main" id="{B8816226-2F56-47DE-B7C3-B82993F4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Complete comparison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Compare SGBM, zero-shot RAFT, and fine-tuned RAFT; record loss endpoints and final visual change.</a:t>
            </a:r>
          </a:p>
        </p:txBody>
      </p:sp>
      <p:sp>
        <p:nvSpPr>
          <p:cNvPr id="11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0E24E8FE-C56A-494B-A04E-D7697314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7906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2026-08-18T14:15:03.7290000Z</dcterms:created>
  <dcterms:modified xsi:type="dcterms:W3CDTF">2026-08-18T14:15:03.7290000Z</dcterms:modified>
</coreProperties>
</file>