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8163ae6cdd4e58" /><Relationship Type="http://schemas.openxmlformats.org/officeDocument/2006/relationships/extended-properties" Target="/docProps/app.xml" Id="R22f7a04ff4da40a3" /><Relationship Type="http://schemas.openxmlformats.org/officeDocument/2006/relationships/officeDocument" Target="/ppt/presentation.xml" Id="Rd8294ee3b1234d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31c5e8b19d4f36"/>
  </p:sldMasterIdLst>
  <p:notesMasterIdLst>
    <p:notesMasterId xmlns:r="http://schemas.openxmlformats.org/officeDocument/2006/relationships" r:id="R2fe5026b93e640f0"/>
  </p:notesMasterIdLst>
  <p:sldIdLst>
    <p:sldId xmlns:r="http://schemas.openxmlformats.org/officeDocument/2006/relationships" id="256" r:id="Re33f20965fdd4dc4"/>
    <p:sldId xmlns:r="http://schemas.openxmlformats.org/officeDocument/2006/relationships" id="257" r:id="Raf6e7b1fe44d474c"/>
    <p:sldId xmlns:r="http://schemas.openxmlformats.org/officeDocument/2006/relationships" id="258" r:id="R02cb21d4a63d4956"/>
    <p:sldId xmlns:r="http://schemas.openxmlformats.org/officeDocument/2006/relationships" id="259" r:id="Re5357897bb154c34"/>
    <p:sldId xmlns:r="http://schemas.openxmlformats.org/officeDocument/2006/relationships" id="260" r:id="R46cd981e247a453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347fb041e1a4dcc" /><Relationship Type="http://schemas.openxmlformats.org/officeDocument/2006/relationships/slideMaster" Target="/ppt/slideMasters/slideMaster1.xml" Id="R0531c5e8b19d4f36" /><Relationship Type="http://schemas.openxmlformats.org/officeDocument/2006/relationships/notesMaster" Target="/ppt/notesMasters/notesMaster1.xml" Id="R2fe5026b93e640f0" /><Relationship Type="http://schemas.openxmlformats.org/officeDocument/2006/relationships/presProps" Target="/ppt/presProps.xml" Id="R773c9025a0ee4eb2" /><Relationship Type="http://schemas.openxmlformats.org/officeDocument/2006/relationships/tableStyles" Target="/ppt/tableStyles.xml" Id="R745432aaafc84fc3" /><Relationship Type="http://schemas.openxmlformats.org/officeDocument/2006/relationships/slide" Target="/ppt/slides/slide1.xml" Id="Re33f20965fdd4dc4" /><Relationship Type="http://schemas.openxmlformats.org/officeDocument/2006/relationships/slide" Target="/ppt/slides/slide2.xml" Id="Raf6e7b1fe44d474c" /><Relationship Type="http://schemas.openxmlformats.org/officeDocument/2006/relationships/slide" Target="/ppt/slides/slide3.xml" Id="R02cb21d4a63d4956" /><Relationship Type="http://schemas.openxmlformats.org/officeDocument/2006/relationships/slide" Target="/ppt/slides/slide4.xml" Id="Re5357897bb154c34" /><Relationship Type="http://schemas.openxmlformats.org/officeDocument/2006/relationships/slide" Target="/ppt/slides/slide5.xml" Id="R46cd981e247a45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57e3a3bbaf4a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e89a45958c4d1b" /><Relationship Type="http://schemas.openxmlformats.org/officeDocument/2006/relationships/notesMaster" Target="/ppt/notesMasters/notesMaster1.xml" Id="R009b23cef54540c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1ceb36c4534e04" /><Relationship Type="http://schemas.openxmlformats.org/officeDocument/2006/relationships/notesMaster" Target="/ppt/notesMasters/notesMaster1.xml" Id="Rfdbe60cefee040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076e51a5024a7a" /><Relationship Type="http://schemas.openxmlformats.org/officeDocument/2006/relationships/notesMaster" Target="/ppt/notesMasters/notesMaster1.xml" Id="Ra30d539bdfeb4b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e212148226749bb" /><Relationship Type="http://schemas.openxmlformats.org/officeDocument/2006/relationships/notesMaster" Target="/ppt/notesMasters/notesMaster1.xml" Id="R389005a4403743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3fcbf500cc243ed" /><Relationship Type="http://schemas.openxmlformats.org/officeDocument/2006/relationships/notesMaster" Target="/ppt/notesMasters/notesMaster1.xml" Id="Rd08ea2b5abbb42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M3 note.pdf (user-provided project status notes, 17 Aug 2026)</a:t>
            </a:r>
          </a:p>
          <a:p xmlns:a="http://schemas.openxmlformats.org/drawingml/2006/main">
            <a:r>
              <a:t>- Group details: previous project proposal and Stereo_Disparity_Depth_Estimation_Presentation.pptx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M3 note.pdf (user-provided project status notes, 17 Aug 2026)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M3 note.pdf (user-provided project status notes, 17 Aug 2026)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M3 note.pdf (user-provided project status notes, 17 Aug 2026)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M3 note.pdf (user-provided project status notes, 17 Aug 2026)</a:t>
            </a:r>
          </a:p>
          <a:p xmlns:a="http://schemas.openxmlformats.org/drawingml/2006/main">
            <a:r>
              <a:t>- Project repository: https://github.com/cepdnaclk/e23-co5430-Stereo-disparity_depth-estimation.git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82edc4266c48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98acebf91349cd" /><Relationship Type="http://schemas.openxmlformats.org/officeDocument/2006/relationships/slideLayout" Target="/ppt/slideLayouts/slideLayout1.xml" Id="R68ebafd06c5e448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ebafd06c5e44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94f555eaab494c" /><Relationship Type="http://schemas.openxmlformats.org/officeDocument/2006/relationships/notesSlide" Target="/ppt/notesSlides/notesSlide1.xml" Id="R328d6e3806154a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aed24d56dc4001" /><Relationship Type="http://schemas.openxmlformats.org/officeDocument/2006/relationships/notesSlide" Target="/ppt/notesSlides/notesSlide2.xml" Id="Rd2074d4c036b4f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75551807a04b46" /><Relationship Type="http://schemas.openxmlformats.org/officeDocument/2006/relationships/notesSlide" Target="/ppt/notesSlides/notesSlide3.xml" Id="R7cbadc8147fe466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68faa927104a08" /><Relationship Type="http://schemas.openxmlformats.org/officeDocument/2006/relationships/notesSlide" Target="/ppt/notesSlides/notesSlide4.xml" Id="R349d65f565e649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1f24d90fdc402a" /><Relationship Type="http://schemas.openxmlformats.org/officeDocument/2006/relationships/notesSlide" Target="/ppt/notesSlides/notesSlide5.xml" Id="R646b432063554fa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188B6CD-BA3E-494B-BBDC-58838EF6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spcAft>
                <a:spcPts val="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Stereo disparity
and depth estimation</a:t>
            </a:r>
          </a:p>
        </p:txBody>
      </p:sp>
      <p:sp>
        <p:nvSpPr>
          <p:cNvPr id="2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1835E092-F73E-484C-92E0-4D3CF999A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Dataset ready: Middlebury 2021 high-resolution stereo pairs, with .pfm ground-truth disparity and a 24-image fine-tuning subset.</a:t>
            </a:r>
          </a:p>
        </p:txBody>
      </p:sp>
      <p:sp>
        <p:nvSpPr>
          <p:cNvPr id="3" name="cover-supertitle">
            <a:extLst xmlns:a="http://schemas.openxmlformats.org/drawingml/2006/main">
              <a:ext uri="{FF2B5EF4-FFF2-40B4-BE49-F238E27FC236}">
                <a16:creationId xmlns:a16="http://schemas.microsoft.com/office/drawing/2014/main" id="{D88BDA3C-33B5-44C8-B4D3-74698152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M3 PROJECT UPDATE</a:t>
            </a:r>
          </a:p>
        </p:txBody>
      </p:sp>
      <p:sp>
        <p:nvSpPr>
          <p:cNvPr id="4" name="dataset-accent">
            <a:extLst xmlns:a="http://schemas.openxmlformats.org/drawingml/2006/main">
              <a:ext uri="{FF2B5EF4-FFF2-40B4-BE49-F238E27FC236}">
                <a16:creationId xmlns:a16="http://schemas.microsoft.com/office/drawing/2014/main" id="{C83747F1-A9D4-4300-A7A3-F12713AA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0"/>
            <a:ext cx="22383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oup-header">
            <a:extLst xmlns:a="http://schemas.openxmlformats.org/drawingml/2006/main">
              <a:ext uri="{FF2B5EF4-FFF2-40B4-BE49-F238E27FC236}">
                <a16:creationId xmlns:a16="http://schemas.microsoft.com/office/drawing/2014/main" id="{37212831-3D4F-43D5-8742-032A182B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800100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CO5430</a:t>
            </a:r>
          </a:p>
          <a:p xmlns:a="http://schemas.openxmlformats.org/drawingml/2006/main">
            <a:pPr algn="l"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COMPUTER VISION</a:t>
            </a:r>
          </a:p>
        </p:txBody>
      </p:sp>
      <p:sp>
        <p:nvSpPr>
          <p:cNvPr id="6" name="group-id">
            <a:extLst xmlns:a="http://schemas.openxmlformats.org/drawingml/2006/main">
              <a:ext uri="{FF2B5EF4-FFF2-40B4-BE49-F238E27FC236}">
                <a16:creationId xmlns:a16="http://schemas.microsoft.com/office/drawing/2014/main" id="{C3014D6A-2FD1-4726-92F7-2971E98F6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1857375"/>
            <a:ext cx="171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GROUP G03</a:t>
            </a:r>
          </a:p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ID: P12</a:t>
            </a:r>
          </a:p>
        </p:txBody>
      </p:sp>
      <p:sp>
        <p:nvSpPr>
          <p:cNvPr id="7" name="group-members">
            <a:extLst xmlns:a="http://schemas.openxmlformats.org/drawingml/2006/main">
              <a:ext uri="{FF2B5EF4-FFF2-40B4-BE49-F238E27FC236}">
                <a16:creationId xmlns:a16="http://schemas.microsoft.com/office/drawing/2014/main" id="{8FF08A0A-5CCF-436E-AA52-7C824DD3C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905125"/>
            <a:ext cx="1714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000000"/>
                </a:solidFill>
              </a:defRPr>
            </a:pPr>
            <a:r>
              <a:rPr sz="1013" b="0">
                <a:solidFill>
                  <a:srgbClr val="000000"/>
                </a:solidFill>
              </a:rPr>
              <a:t>GROUP MEMBERS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>
                <a:solidFill>
                  <a:srgbClr val="000000"/>
                </a:solidFill>
              </a:defRPr>
            </a:pPr>
            <a:r>
              <a:rPr sz="1013" b="0">
                <a:solidFill>
                  <a:srgbClr val="000000"/>
                </a:solidFill>
              </a:rPr>
              <a:t>E/23/127</a:t>
            </a:r>
          </a:p>
          <a:p xmlns:a="http://schemas.openxmlformats.org/drawingml/2006/main">
            <a:pPr algn="l">
              <a:defRPr sz="1013" b="0">
                <a:solidFill>
                  <a:srgbClr val="000000"/>
                </a:solidFill>
              </a:defRPr>
            </a:pPr>
            <a:r>
              <a:rPr sz="1013" b="0">
                <a:solidFill>
                  <a:srgbClr val="000000"/>
                </a:solidFill>
              </a:rPr>
              <a:t>H.M.K.I. Herath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>
                <a:solidFill>
                  <a:srgbClr val="000000"/>
                </a:solidFill>
              </a:defRPr>
            </a:pPr>
            <a:r>
              <a:rPr sz="1013" b="0">
                <a:solidFill>
                  <a:srgbClr val="000000"/>
                </a:solidFill>
              </a:rPr>
              <a:t>E/23/188</a:t>
            </a:r>
          </a:p>
          <a:p xmlns:a="http://schemas.openxmlformats.org/drawingml/2006/main">
            <a:pPr algn="l">
              <a:defRPr sz="1013" b="0">
                <a:solidFill>
                  <a:srgbClr val="000000"/>
                </a:solidFill>
              </a:defRPr>
            </a:pPr>
            <a:r>
              <a:rPr sz="1013" b="0">
                <a:solidFill>
                  <a:srgbClr val="000000"/>
                </a:solidFill>
              </a:rPr>
              <a:t>K.M.M.Y. Kumarasinge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>
                <a:solidFill>
                  <a:srgbClr val="000000"/>
                </a:solidFill>
              </a:defRPr>
            </a:pPr>
            <a:r>
              <a:rPr sz="1013" b="0">
                <a:solidFill>
                  <a:srgbClr val="000000"/>
                </a:solidFill>
              </a:rPr>
              <a:t>E/23/343</a:t>
            </a:r>
          </a:p>
          <a:p xmlns:a="http://schemas.openxmlformats.org/drawingml/2006/main">
            <a:pPr algn="l">
              <a:defRPr sz="1013" b="0">
                <a:solidFill>
                  <a:srgbClr val="000000"/>
                </a:solidFill>
              </a:defRPr>
            </a:pPr>
            <a:r>
              <a:rPr sz="1013" b="0">
                <a:solidFill>
                  <a:srgbClr val="000000"/>
                </a:solidFill>
              </a:rPr>
              <a:t>S.B.N.S. Samarawickrama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13" b="0">
                <a:solidFill>
                  <a:srgbClr val="000000"/>
                </a:solidFill>
              </a:defRPr>
            </a:pPr>
            <a:r>
              <a:rPr sz="1013" b="0">
                <a:solidFill>
                  <a:srgbClr val="000000"/>
                </a:solidFill>
              </a:rPr>
              <a:t>E/23/347</a:t>
            </a:r>
          </a:p>
          <a:p xmlns:a="http://schemas.openxmlformats.org/drawingml/2006/main">
            <a:pPr algn="l">
              <a:defRPr sz="1013" b="0">
                <a:solidFill>
                  <a:srgbClr val="000000"/>
                </a:solidFill>
              </a:defRPr>
            </a:pPr>
            <a:r>
              <a:rPr sz="1013" b="0">
                <a:solidFill>
                  <a:srgbClr val="000000"/>
                </a:solidFill>
              </a:rPr>
              <a:t>S.D.M.P. Sandanayake</a:t>
            </a:r>
          </a:p>
        </p:txBody>
      </p:sp>
    </p:spTree>
    <p:extLst>
      <p:ext uri="{BB962C8B-B14F-4D97-AF65-F5344CB8AC3E}">
        <p14:creationId xmlns:p14="http://schemas.microsoft.com/office/powerpoint/2010/main" val="24214491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BA27C2B-1CE3-4F11-BEDB-08508A75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926F18D-63D7-417E-A1E4-87298502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Preprocessing keeps training memory-safe and label-aware</a:t>
            </a:r>
          </a:p>
        </p:txBody>
      </p:sp>
      <p:sp>
        <p:nvSpPr>
          <p:cNvPr id="3" name="preprocess-inputs">
            <a:extLst xmlns:a="http://schemas.openxmlformats.org/drawingml/2006/main">
              <a:ext uri="{FF2B5EF4-FFF2-40B4-BE49-F238E27FC236}">
                <a16:creationId xmlns:a16="http://schemas.microsoft.com/office/drawing/2014/main" id="{D4DEC2FD-000C-4119-B4B6-EC58CCE7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Stereo inputs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Load rectified left/right image pairs and align each sample with its Middlebury .pfm disparity map.</a:t>
            </a:r>
          </a:p>
        </p:txBody>
      </p:sp>
      <p:sp>
        <p:nvSpPr>
          <p:cNvPr id="4" name="preprocess-crops">
            <a:extLst xmlns:a="http://schemas.openxmlformats.org/drawingml/2006/main">
              <a:ext uri="{FF2B5EF4-FFF2-40B4-BE49-F238E27FC236}">
                <a16:creationId xmlns:a16="http://schemas.microsoft.com/office/drawing/2014/main" id="{853068E3-3619-47D7-9223-4796471B5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Memory-aware crops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Random 384 × 512 spatial crops retain local geometry while fitting high-resolution samples within Colab T4 memory.</a:t>
            </a:r>
          </a:p>
        </p:txBody>
      </p:sp>
      <p:sp>
        <p:nvSpPr>
          <p:cNvPr id="5" name="preprocess-mask">
            <a:extLst xmlns:a="http://schemas.openxmlformats.org/drawingml/2006/main">
              <a:ext uri="{FF2B5EF4-FFF2-40B4-BE49-F238E27FC236}">
                <a16:creationId xmlns:a16="http://schemas.microsoft.com/office/drawing/2014/main" id="{EACB7EC9-A43A-4BF4-BD75-E1191323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Valid-pixel mask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Compute Smooth L1 only where ground truth is valid; exclude occlusions and infinite or &gt;250 px disparities.</a:t>
            </a:r>
          </a:p>
        </p:txBody>
      </p:sp>
      <p:sp>
        <p:nvSpPr>
          <p:cNvPr id="6" name="preprocess-augmentation">
            <a:extLst xmlns:a="http://schemas.openxmlformats.org/drawingml/2006/main">
              <a:ext uri="{FF2B5EF4-FFF2-40B4-BE49-F238E27FC236}">
                <a16:creationId xmlns:a16="http://schemas.microsoft.com/office/drawing/2014/main" id="{2E7EC9BF-C05E-4766-9301-E37F9404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Augmentation plan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Add color jitter and spatial augmentation to expand variation in the 24-image subset and strengthen generalization.</a:t>
            </a:r>
          </a:p>
        </p:txBody>
      </p:sp>
      <p:sp>
        <p:nvSpPr>
          <p:cNvPr id="7" name="blue-accent-rule">
            <a:extLst xmlns:a="http://schemas.openxmlformats.org/drawingml/2006/main">
              <a:ext uri="{FF2B5EF4-FFF2-40B4-BE49-F238E27FC236}">
                <a16:creationId xmlns:a16="http://schemas.microsoft.com/office/drawing/2014/main" id="{AD40A92F-0BDD-48B0-9996-B82A9707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3684661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23E4789-6053-48B1-86FD-A9FBD8938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5E0451A-438D-4764-9171-44C71337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baseline progresses from classical matching to controlled RAFT adaptation</a:t>
            </a:r>
          </a:p>
        </p:txBody>
      </p:sp>
      <p:cxnSp>
        <p:nvCxnSpPr>
          <p:cNvPr id="16" name="timeline-rule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FAD6DF2D-D459-428D-A704-DF9BD107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A9FADF85-9105-41E2-8012-6F59E646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16CECBEE-7904-499A-AAE1-581279629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7" name="timeline-label-1">
            <a:extLst xmlns:a="http://schemas.openxmlformats.org/drawingml/2006/main">
              <a:ext uri="{FF2B5EF4-FFF2-40B4-BE49-F238E27FC236}">
                <a16:creationId xmlns:a16="http://schemas.microsoft.com/office/drawing/2014/main" id="{1A21E1C4-6141-49A2-9BDB-6E7B88C0C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2476500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01 · CLASSICAL</a:t>
            </a:r>
          </a:p>
        </p:txBody>
      </p:sp>
      <p:sp>
        <p:nvSpPr>
          <p:cNvPr id="8" name="timeline-label-2">
            <a:extLst xmlns:a="http://schemas.openxmlformats.org/drawingml/2006/main">
              <a:ext uri="{FF2B5EF4-FFF2-40B4-BE49-F238E27FC236}">
                <a16:creationId xmlns:a16="http://schemas.microsoft.com/office/drawing/2014/main" id="{37633483-E96F-4AD1-B02A-054AB96B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2476500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02 · ZERO-SHOT</a:t>
            </a:r>
          </a:p>
        </p:txBody>
      </p:sp>
      <p:sp>
        <p:nvSpPr>
          <p:cNvPr id="9" name="timeline-label-3">
            <a:extLst xmlns:a="http://schemas.openxmlformats.org/drawingml/2006/main">
              <a:ext uri="{FF2B5EF4-FFF2-40B4-BE49-F238E27FC236}">
                <a16:creationId xmlns:a16="http://schemas.microsoft.com/office/drawing/2014/main" id="{29C08DC8-788C-4C3A-BEA2-5BCAA46A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2476500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03 · FINE-TUNE</a:t>
            </a:r>
          </a:p>
        </p:txBody>
      </p:sp>
      <p:sp>
        <p:nvSpPr>
          <p:cNvPr id="10" name="timeline-body-1">
            <a:extLst xmlns:a="http://schemas.openxmlformats.org/drawingml/2006/main">
              <a:ext uri="{FF2B5EF4-FFF2-40B4-BE49-F238E27FC236}">
                <a16:creationId xmlns:a16="http://schemas.microsoft.com/office/drawing/2014/main" id="{EBCED416-BBDC-4098-ACB4-C7E4F83E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StereoBM / SGBM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Establish interpretable baselines and study blockSize plus P1/P2 smoothness penalties.</a:t>
            </a:r>
          </a:p>
        </p:txBody>
      </p:sp>
      <p:sp>
        <p:nvSpPr>
          <p:cNvPr id="11" name="timeline-body-2">
            <a:extLst xmlns:a="http://schemas.openxmlformats.org/drawingml/2006/main">
              <a:ext uri="{FF2B5EF4-FFF2-40B4-BE49-F238E27FC236}">
                <a16:creationId xmlns:a16="http://schemas.microsoft.com/office/drawing/2014/main" id="{B72F9316-9DA5-4F03-A8F6-13641069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RAFT-Stereo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Load SceneFlow-pretrained weights and run the architecture directly through PyTorch.</a:t>
            </a:r>
          </a:p>
        </p:txBody>
      </p:sp>
      <p:sp>
        <p:nvSpPr>
          <p:cNvPr id="12" name="timeline-body-3">
            <a:extLst xmlns:a="http://schemas.openxmlformats.org/drawingml/2006/main">
              <a:ext uri="{FF2B5EF4-FFF2-40B4-BE49-F238E27FC236}">
                <a16:creationId xmlns:a16="http://schemas.microsoft.com/office/drawing/2014/main" id="{DB92A064-BAE9-49E5-93F9-281A9B75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Few-shot adaptation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Freeze fnet/cnet; optimize the final GRU with Smooth L1 at a 1e−6 learning rate.</a:t>
            </a:r>
          </a:p>
        </p:txBody>
      </p:sp>
      <p:sp>
        <p:nvSpPr>
          <p:cNvPr id="13" name="blue-accent-rule">
            <a:extLst xmlns:a="http://schemas.openxmlformats.org/drawingml/2006/main">
              <a:ext uri="{FF2B5EF4-FFF2-40B4-BE49-F238E27FC236}">
                <a16:creationId xmlns:a16="http://schemas.microsoft.com/office/drawing/2014/main" id="{CB2A7649-C966-4A31-8380-8D9D81E5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4018183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19EB4F5-EA9D-44F8-B3E0-7AD71FE7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6CABAFD-81DF-45DC-BF4D-7652D955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Initial outputs favor RAFT-Stereo on difficult scene structure</a:t>
            </a:r>
          </a:p>
        </p:txBody>
      </p:sp>
      <p:sp>
        <p:nvSpPr>
          <p:cNvPr id="3" name="result-summary">
            <a:extLst xmlns:a="http://schemas.openxmlformats.org/drawingml/2006/main">
              <a:ext uri="{FF2B5EF4-FFF2-40B4-BE49-F238E27FC236}">
                <a16:creationId xmlns:a16="http://schemas.microsoft.com/office/drawing/2014/main" id="{92132C2C-44F3-45C5-B13B-E6D58A235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3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QUALITATIVE RESULT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28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implemented methods now produce comparable disparity-map outputs.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Formal EPE and D1 values are reserved for the controlled benchmarking run.</a:t>
            </a:r>
          </a:p>
        </p:txBody>
      </p:sp>
      <p:sp>
        <p:nvSpPr>
          <p:cNvPr id="4" name="sgbm-heading-panel">
            <a:extLst xmlns:a="http://schemas.openxmlformats.org/drawingml/2006/main">
              <a:ext uri="{FF2B5EF4-FFF2-40B4-BE49-F238E27FC236}">
                <a16:creationId xmlns:a16="http://schemas.microsoft.com/office/drawing/2014/main" id="{A0533000-7374-4934-B475-A3613DF9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raft-heading-panel">
            <a:extLst xmlns:a="http://schemas.openxmlformats.org/drawingml/2006/main">
              <a:ext uri="{FF2B5EF4-FFF2-40B4-BE49-F238E27FC236}">
                <a16:creationId xmlns:a16="http://schemas.microsoft.com/office/drawing/2014/main" id="{94BCED7E-25B8-4F25-9C1D-312A337D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D0EDFA"/>
          </a:solidFill>
        </p:spPr>
      </p:sp>
      <p:sp>
        <p:nvSpPr>
          <p:cNvPr id="6" name="sgbm-heading">
            <a:extLst xmlns:a="http://schemas.openxmlformats.org/drawingml/2006/main">
              <a:ext uri="{FF2B5EF4-FFF2-40B4-BE49-F238E27FC236}">
                <a16:creationId xmlns:a16="http://schemas.microsoft.com/office/drawing/2014/main" id="{5B085F2B-2BB0-4DBD-A611-14AAB407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SGBM establishes a useful, tunable reference</a:t>
            </a:r>
          </a:p>
        </p:txBody>
      </p:sp>
      <p:sp>
        <p:nvSpPr>
          <p:cNvPr id="7" name="raft-heading">
            <a:extLst xmlns:a="http://schemas.openxmlformats.org/drawingml/2006/main">
              <a:ext uri="{FF2B5EF4-FFF2-40B4-BE49-F238E27FC236}">
                <a16:creationId xmlns:a16="http://schemas.microsoft.com/office/drawing/2014/main" id="{A31DD720-4377-4812-8DFA-E1125F0D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Pre-trained RAFT provides the stronger visual result</a:t>
            </a:r>
          </a:p>
        </p:txBody>
      </p:sp>
      <p:sp>
        <p:nvSpPr>
          <p:cNvPr id="8" name="sgbm-details">
            <a:extLst xmlns:a="http://schemas.openxmlformats.org/drawingml/2006/main">
              <a:ext uri="{FF2B5EF4-FFF2-40B4-BE49-F238E27FC236}">
                <a16:creationId xmlns:a16="http://schemas.microsoft.com/office/drawing/2014/main" id="{AD349F04-8E1D-48A0-8C62-57E23BF8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2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Larger blocks reduce speckle in flat regions.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2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The same smoothing can soften sharp boundaries.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Parameter effects remain easy to interpret.</a:t>
            </a:r>
          </a:p>
        </p:txBody>
      </p:sp>
      <p:sp>
        <p:nvSpPr>
          <p:cNvPr id="9" name="raft-details">
            <a:extLst xmlns:a="http://schemas.openxmlformats.org/drawingml/2006/main">
              <a:ext uri="{FF2B5EF4-FFF2-40B4-BE49-F238E27FC236}">
                <a16:creationId xmlns:a16="http://schemas.microsoft.com/office/drawing/2014/main" id="{6115D02C-57F5-4543-ADA6-1B81B67F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2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Denser maps in textureless regions.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22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Sharper edges and thin structures.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Better handling of occlusions.</a:t>
            </a:r>
          </a:p>
        </p:txBody>
      </p:sp>
      <p:sp>
        <p:nvSpPr>
          <p:cNvPr id="10" name="blue-accent-rule">
            <a:extLst xmlns:a="http://schemas.openxmlformats.org/drawingml/2006/main">
              <a:ext uri="{FF2B5EF4-FFF2-40B4-BE49-F238E27FC236}">
                <a16:creationId xmlns:a16="http://schemas.microsoft.com/office/drawing/2014/main" id="{0E9198E3-B97E-44E3-A119-CB74A73F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94980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D938E51-8E84-4D14-8896-2BAC14EF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01834E2-1593-4330-8A58-68E5C92A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Constraints are now converted into a focused validation plan</a:t>
            </a:r>
          </a:p>
        </p:txBody>
      </p:sp>
      <p:sp>
        <p:nvSpPr>
          <p:cNvPr id="3" name="priority-summary">
            <a:extLst xmlns:a="http://schemas.openxmlformats.org/drawingml/2006/main">
              <a:ext uri="{FF2B5EF4-FFF2-40B4-BE49-F238E27FC236}">
                <a16:creationId xmlns:a16="http://schemas.microsoft.com/office/drawing/2014/main" id="{88C95A13-6897-4089-876F-28AA1180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3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CURRENT ENGINEERING PRIORITIES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28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Small-data generalization, GPU memory, and disparity-scale alignment define the next iteration.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The implemented frozen-backbone and crop strategy provides a stable base for systematic evaluation.</a:t>
            </a:r>
          </a:p>
        </p:txBody>
      </p:sp>
      <p:sp>
        <p:nvSpPr>
          <p:cNvPr id="4" name="priority-panel-1">
            <a:extLst xmlns:a="http://schemas.openxmlformats.org/drawingml/2006/main">
              <a:ext uri="{FF2B5EF4-FFF2-40B4-BE49-F238E27FC236}">
                <a16:creationId xmlns:a16="http://schemas.microsoft.com/office/drawing/2014/main" id="{3471AF57-2423-49D1-B393-AD7902E4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priority-text-1">
            <a:extLst xmlns:a="http://schemas.openxmlformats.org/drawingml/2006/main">
              <a:ext uri="{FF2B5EF4-FFF2-40B4-BE49-F238E27FC236}">
                <a16:creationId xmlns:a16="http://schemas.microsoft.com/office/drawing/2014/main" id="{0046CC59-A373-46C9-AFB8-9EC648FA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565" y="3955637"/>
            <a:ext cx="2949321" cy="16233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4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Generalization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Strengthen the 24-image subset with color and spatial augmentation while retaining the frozen backbone.</a:t>
            </a:r>
          </a:p>
        </p:txBody>
      </p:sp>
      <p:sp>
        <p:nvSpPr>
          <p:cNvPr id="6" name="priority-panel-2">
            <a:extLst xmlns:a="http://schemas.openxmlformats.org/drawingml/2006/main">
              <a:ext uri="{FF2B5EF4-FFF2-40B4-BE49-F238E27FC236}">
                <a16:creationId xmlns:a16="http://schemas.microsoft.com/office/drawing/2014/main" id="{B98CEAFA-88FD-4CD5-B1D3-5D09C3BD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priority-text-2">
            <a:extLst xmlns:a="http://schemas.openxmlformats.org/drawingml/2006/main">
              <a:ext uri="{FF2B5EF4-FFF2-40B4-BE49-F238E27FC236}">
                <a16:creationId xmlns:a16="http://schemas.microsoft.com/office/drawing/2014/main" id="{3D49530F-97B1-43A2-BB7C-42665A6D1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3955637"/>
            <a:ext cx="2949321" cy="16233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4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Training stability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Adopt RAFT sequence loss and keep predictions clamped to 0–250 px for aligned, stable gradients.</a:t>
            </a:r>
          </a:p>
        </p:txBody>
      </p:sp>
      <p:sp>
        <p:nvSpPr>
          <p:cNvPr id="8" name="priority-panel-3">
            <a:extLst xmlns:a="http://schemas.openxmlformats.org/drawingml/2006/main">
              <a:ext uri="{FF2B5EF4-FFF2-40B4-BE49-F238E27FC236}">
                <a16:creationId xmlns:a16="http://schemas.microsoft.com/office/drawing/2014/main" id="{6B60DC30-04ED-43BC-B23C-4060C0B8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D0EDFA"/>
          </a:solidFill>
        </p:spPr>
      </p:sp>
      <p:sp>
        <p:nvSpPr>
          <p:cNvPr id="9" name="priority-text-3">
            <a:extLst xmlns:a="http://schemas.openxmlformats.org/drawingml/2006/main">
              <a:ext uri="{FF2B5EF4-FFF2-40B4-BE49-F238E27FC236}">
                <a16:creationId xmlns:a16="http://schemas.microsoft.com/office/drawing/2014/main" id="{019DDDEB-C3E8-42DE-B729-0D0F285E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2496" y="3955637"/>
            <a:ext cx="2949321" cy="16233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4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Quantitative evidence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Report EPE and D1 across SGBM, zero-shot RAFT, and fine-tuned RAFT under one evaluation protocol.</a:t>
            </a:r>
          </a:p>
        </p:txBody>
      </p:sp>
      <p:sp>
        <p:nvSpPr>
          <p:cNvPr id="10" name="blue-accent-rule">
            <a:extLst xmlns:a="http://schemas.openxmlformats.org/drawingml/2006/main">
              <a:ext uri="{FF2B5EF4-FFF2-40B4-BE49-F238E27FC236}">
                <a16:creationId xmlns:a16="http://schemas.microsoft.com/office/drawing/2014/main" id="{69B016F3-6B48-4FEF-8180-AB0AD609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422704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2026-08-17T15:16:26.7060000Z</dcterms:created>
  <dcterms:modified xsi:type="dcterms:W3CDTF">2026-08-17T15:16:26.7060000Z</dcterms:modified>
</coreProperties>
</file>